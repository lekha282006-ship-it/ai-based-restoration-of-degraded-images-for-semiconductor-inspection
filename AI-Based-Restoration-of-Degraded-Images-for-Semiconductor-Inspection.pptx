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822960"/>
            <a:ext cx="10789920" cy="1188720"/>
          </a:xfrm>
          <a:prstGeom prst="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600" b="1">
                <a:solidFill>
                  <a:srgbClr val="F5F7FA"/>
                </a:solidFill>
              </a:defRPr>
            </a:pPr>
            <a:r>
              <a:t>AI-Based Restoration of Degraded Images for Semiconductor Inspection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5F7FA"/>
                </a:solidFill>
              </a:defRPr>
            </a:pPr>
            <a:r>
              <a:t>Deep Learning Approach for Noise Removal and Super-Resolution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79" y="2103120"/>
            <a:ext cx="3017520" cy="1645920"/>
          </a:xfrm>
          <a:prstGeom prst="rect">
            <a:avLst/>
          </a:prstGeom>
          <a:solidFill>
            <a:srgbClr val="2E8B57"/>
          </a:solidFill>
          <a:ln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/>
            </a:pPr>
            <a:r>
              <a:t>Validation Snapshot</a:t>
            </a:r>
          </a:p>
          <a:p>
            <a:pPr>
              <a:defRPr sz="1600"/>
            </a:pPr>
            <a:r>
              <a:t>PSNR: 11.48</a:t>
            </a:r>
          </a:p>
          <a:p>
            <a:pPr>
              <a:defRPr sz="1600"/>
            </a:pPr>
            <a:r>
              <a:t>SSIM: 0.111</a:t>
            </a:r>
          </a:p>
          <a:p>
            <a:pPr>
              <a:defRPr sz="1600"/>
            </a:pPr>
            <a:r>
              <a:t>LPIPS: 0.660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and 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5486400" cy="4114800"/>
          </a:xfrm>
          <a:prstGeom prst="rect">
            <a:avLst/>
          </a:prstGeom>
          <a:noFill/>
        </p:spPr>
        <p:txBody>
          <a:bodyPr wrap="square" lIns="8" rIns="8" tIns="8" bIns="8">
            <a:spAutoFit/>
          </a:bodyPr>
          <a:lstStyle/>
          <a:p>
            <a:pPr>
              <a:defRPr sz="2200"/>
            </a:pPr>
            <a:r>
              <a:t>Semiconductor inspection images are often noisy, degraded, and low-resolution.</a:t>
            </a:r>
          </a:p>
          <a:p>
            <a:pPr>
              <a:defRPr sz="2200"/>
            </a:pPr>
            <a:r>
              <a:t>These degradations hide structural patterns that are critical for defect analysis.</a:t>
            </a:r>
          </a:p>
          <a:p>
            <a:pPr>
              <a:defRPr sz="2200"/>
            </a:pPr>
            <a:r>
              <a:t>The goal is to recover visually cleaner and more interpretable images in a single pass.</a:t>
            </a:r>
          </a:p>
          <a:p>
            <a:pPr>
              <a:defRPr sz="2200"/>
            </a:pPr>
            <a:r>
              <a:t>This helps improve downstream inspection and aids automated semiconductor quality review.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0" y="1645920"/>
            <a:ext cx="4389120" cy="2377440"/>
          </a:xfrm>
          <a:prstGeom prst="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000" b="1"/>
            </a:pPr>
            <a:r>
              <a:t>Challenge Constraints</a:t>
            </a:r>
          </a:p>
          <a:p>
            <a:pPr>
              <a:defRPr sz="1700"/>
            </a:pPr>
            <a:r>
              <a:t>• CPU-only environment</a:t>
            </a:r>
          </a:p>
          <a:p>
            <a:pPr>
              <a:defRPr sz="1700"/>
            </a:pPr>
            <a:r>
              <a:t>• No GPU available</a:t>
            </a:r>
          </a:p>
          <a:p>
            <a:pPr>
              <a:defRPr sz="1700"/>
            </a:pPr>
            <a:r>
              <a:t>• Real image restoration task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and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4572000" cy="3840480"/>
          </a:xfrm>
          <a:prstGeom prst="rect">
            <a:avLst/>
          </a:prstGeom>
          <a:noFill/>
        </p:spPr>
        <p:txBody>
          <a:bodyPr wrap="square" lIns="8" rIns="8" tIns="8" bIns="8">
            <a:spAutoFit/>
          </a:bodyPr>
          <a:lstStyle/>
          <a:p>
            <a:pPr>
              <a:defRPr sz="2100"/>
            </a:pPr>
            <a:r>
              <a:t>Paired noisy/ground-truth .npy dataset</a:t>
            </a:r>
          </a:p>
          <a:p>
            <a:pPr>
              <a:defRPr sz="2100"/>
            </a:pPr>
            <a:r>
              <a:t>Train/validation split from noisy and GT folders</a:t>
            </a:r>
          </a:p>
          <a:p>
            <a:pPr>
              <a:defRPr sz="2100"/>
            </a:pPr>
            <a:r>
              <a:t>External held-out noisy folder for generalization testing</a:t>
            </a:r>
          </a:p>
          <a:p>
            <a:pPr>
              <a:defRPr sz="2100"/>
            </a:pPr>
            <a:r>
              <a:t>Input normalization: clip to [0, 1.5], then scale by 1.5</a:t>
            </a:r>
          </a:p>
          <a:p>
            <a:pPr>
              <a:defRPr sz="2100"/>
            </a:pPr>
            <a:r>
              <a:t>Output target: clean grayscale image in [0, 1] range</a:t>
            </a:r>
          </a:p>
        </p:txBody>
      </p:sp>
      <p:pic>
        <p:nvPicPr>
          <p:cNvPr id="4" name="Picture 3" descr="val_grid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645920"/>
            <a:ext cx="530352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4389120" cy="3657600"/>
          </a:xfrm>
          <a:prstGeom prst="rect">
            <a:avLst/>
          </a:prstGeom>
          <a:noFill/>
        </p:spPr>
        <p:txBody>
          <a:bodyPr wrap="square" lIns="8" rIns="8" tIns="8" bIns="8">
            <a:spAutoFit/>
          </a:bodyPr>
          <a:lstStyle/>
          <a:p>
            <a:pPr>
              <a:defRPr sz="2200"/>
            </a:pPr>
            <a:r>
              <a:t>Residual CNN backbone</a:t>
            </a:r>
          </a:p>
          <a:p>
            <a:pPr>
              <a:defRPr sz="2200"/>
            </a:pPr>
            <a:r>
              <a:t>Instance normalization layers</a:t>
            </a:r>
          </a:p>
          <a:p>
            <a:pPr>
              <a:defRPr sz="2200"/>
            </a:pPr>
            <a:r>
              <a:t>Pixel-shuffle upsampling head</a:t>
            </a:r>
          </a:p>
          <a:p>
            <a:pPr>
              <a:defRPr sz="2200"/>
            </a:pPr>
            <a:r>
              <a:t>Single-pass restoration for denoising + super-resolution</a:t>
            </a:r>
          </a:p>
          <a:p>
            <a:pPr>
              <a:defRPr sz="2200"/>
            </a:pPr>
            <a:r>
              <a:t>Compact and efficient for CPU-based execution</a:t>
            </a:r>
          </a:p>
        </p:txBody>
      </p:sp>
      <p:pic>
        <p:nvPicPr>
          <p:cNvPr id="4" name="Picture 3" descr="val_grid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554480"/>
            <a:ext cx="566928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Innovation &amp; Uniqueness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400800" cy="3840480"/>
          </a:xfrm>
          <a:prstGeom prst="rect">
            <a:avLst/>
          </a:prstGeom>
          <a:noFill/>
        </p:spPr>
        <p:txBody>
          <a:bodyPr wrap="square" lIns="8" rIns="8" tIns="8" bIns="8">
            <a:spAutoFit/>
          </a:bodyPr>
          <a:lstStyle/>
          <a:p>
            <a:pPr>
              <a:defRPr sz="2000"/>
            </a:pPr>
            <a:r>
              <a:t>Problem-targeted pipeline: a single-pass model that jointly handles speckle noise, Gaussian blur/noise, and 2x super-resolution.</a:t>
            </a:r>
          </a:p>
          <a:p>
            <a:pPr>
              <a:defRPr sz="2000"/>
            </a:pPr>
            <a:r>
              <a:t>Key innovation: compact residual SR network trained with semiconductor-specific augmentations that mimic real fab degradations (speckle, blur, intensity shifts).</a:t>
            </a:r>
          </a:p>
          <a:p>
            <a:pPr>
              <a:defRPr sz="2000"/>
            </a:pPr>
            <a:r>
              <a:t>Loss and training: composite objective (L1 + SSIM + Charbonnier + gradient-preservation) to balance pixel fidelity and structural sharpness.</a:t>
            </a:r>
          </a:p>
          <a:p>
            <a:pPr>
              <a:defRPr sz="2000"/>
            </a:pPr>
            <a:r>
              <a:t>Competitive advantage: small model (~150k params) with ~0.025s CPU inference — practical for on-line inspection and fast QA loops.</a:t>
            </a:r>
          </a:p>
          <a:p>
            <a:pPr>
              <a:defRPr sz="2000"/>
            </a:pPr>
            <a:r>
              <a:t>Deployment-ready: single forward pass recovers fine structural detail while suppressing fabrication artifacts, improving defect visibility.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0" y="1645920"/>
            <a:ext cx="3840480" cy="2377440"/>
          </a:xfrm>
          <a:prstGeom prst="rect">
            <a:avLst/>
          </a:prstGeom>
          <a:solidFill>
            <a:srgbClr val="2E8B57"/>
          </a:solidFill>
          <a:ln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/>
            </a:pPr>
            <a:r>
              <a:t>Takeaway</a:t>
            </a:r>
          </a:p>
          <a:p>
            <a:pPr>
              <a:defRPr sz="1500"/>
            </a:pPr>
            <a:r>
              <a:t>Targeted, lightweight restoration for practical semiconductor inspection.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241280" cy="3657600"/>
          </a:xfrm>
          <a:prstGeom prst="rect">
            <a:avLst/>
          </a:prstGeom>
          <a:noFill/>
        </p:spPr>
        <p:txBody>
          <a:bodyPr wrap="square" lIns="8" rIns="8" tIns="8" bIns="8">
            <a:spAutoFit/>
          </a:bodyPr>
          <a:lstStyle/>
          <a:p>
            <a:pPr>
              <a:defRPr sz="2300"/>
            </a:pPr>
            <a:r>
              <a:t>A working end-to-end image restoration pipeline was implemented for semiconductor inspection images.</a:t>
            </a:r>
          </a:p>
          <a:p>
            <a:pPr>
              <a:defRPr sz="2300"/>
            </a:pPr>
            <a:r>
              <a:t>The model was validated on real data and also tested on an unseen external noisy folder, confirming practical generalization.</a:t>
            </a:r>
          </a:p>
          <a:p>
            <a:pPr>
              <a:defRPr sz="2300"/>
            </a:pPr>
            <a:r>
              <a:t>Repository includes training, inference, evaluation, dependency setup, and submission summary for reproducibility.</a:t>
            </a:r>
          </a:p>
          <a:p>
            <a:pPr>
              <a:defRPr sz="2300"/>
            </a:pPr>
            <a:r>
              <a:t>The project is ready for presentation and further extension with larger models and GPU training.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